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5" d="100"/>
          <a:sy n="35" d="100"/>
        </p:scale>
        <p:origin x="10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4AF37"/>
                </a:solidFill>
                <a:latin typeface="Calibri"/>
              </a:defRPr>
            </a:pPr>
            <a:r>
              <a:t>CREDIT CARD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6E3"/>
                </a:solidFill>
                <a:latin typeface="Calibri"/>
              </a:defRPr>
            </a:pPr>
            <a:r>
              <a:rPr sz="2400" dirty="0"/>
              <a:t>State-of-the-Art</a:t>
            </a:r>
            <a:r>
              <a:rPr dirty="0"/>
              <a:t> Stacking Ensemble with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rPr sz="2000"/>
              <a:t>SecureGuard AI  |  Industry-Expert Dashboard  |  Real-time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rPr sz="1200" dirty="0"/>
              <a:t>PRECISION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rPr dirty="0"/>
              <a:t>88.76%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rPr sz="1200" dirty="0"/>
              <a:t>RECALL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rPr dirty="0"/>
              <a:t>80.61%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rPr sz="1200" dirty="0"/>
              <a:t>AUC-ROC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rPr dirty="0"/>
              <a:t>97.81%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rPr sz="1600" dirty="0"/>
              <a:t>SLIDE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rPr dirty="0"/>
              <a:t>The Problem: Why Standard Metrics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500" dirty="0"/>
              <a:t>Credit card fraud costs $32+ billion annually worldwide</a:t>
            </a:r>
            <a:br>
              <a:rPr lang="en-US" sz="1500" dirty="0"/>
            </a:br>
            <a:endParaRPr sz="1500" dirty="0"/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700" b="1" dirty="0"/>
              <a:t>Real-world fraud rate: </a:t>
            </a:r>
            <a:r>
              <a:rPr sz="1700" dirty="0"/>
              <a:t>only 0.172% of all transactions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700" dirty="0"/>
              <a:t>If a model predicts everything as 'Legitimate' it gets 99.83% accuracy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700" dirty="0"/>
              <a:t>But catches ZERO actual fraud — accuracy is meaningless here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700" dirty="0"/>
              <a:t>Banks process millions of transactions daily</a:t>
            </a:r>
            <a:endParaRPr lang="en-US" sz="1700" dirty="0"/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endParaRPr sz="1500" dirty="0"/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700" b="1" dirty="0"/>
              <a:t>The challenge: </a:t>
            </a:r>
            <a:r>
              <a:rPr sz="1700" dirty="0"/>
              <a:t>find 492 needles in a haystack of 284,807</a:t>
            </a:r>
            <a:endParaRPr lang="en-US" sz="1700" dirty="0"/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endParaRPr sz="1500" dirty="0"/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700" b="1" dirty="0"/>
              <a:t>Solution: </a:t>
            </a:r>
            <a:r>
              <a:rPr sz="1700" dirty="0"/>
              <a:t>Optimize for Recall (catch rate) not Accuracy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rPr sz="1700" dirty="0"/>
              <a:t>Our system uses domain-informed behavioral features + SHAP explainability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rPr sz="1400" dirty="0"/>
              <a:t>CLASS IMBALANCE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rPr dirty="0"/>
              <a:t>99.83% vs 0.17%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20040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rPr sz="1400" dirty="0"/>
              <a:t>ACCURACY TRAP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rPr dirty="0"/>
              <a:t>99.83% but 0 fraud caught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57200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rPr sz="1400" dirty="0"/>
              <a:t>OUR APPROACH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rPr dirty="0"/>
              <a:t>Recall-optimized ensemble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rPr sz="1600" dirty="0"/>
              <a:t>SLIDE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6E3"/>
                </a:solidFill>
                <a:latin typeface="Calibri"/>
              </a:defRPr>
            </a:pPr>
            <a:r>
              <a:rPr dirty="0"/>
              <a:t>Literature Review &amp; Research Gaps</a:t>
            </a:r>
            <a:endParaRPr lang="en-IN" dirty="0"/>
          </a:p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227867" y="1829054"/>
            <a:ext cx="4389120" cy="1214654"/>
          </a:xfrm>
          <a:prstGeom prst="roundRect">
            <a:avLst>
              <a:gd name="adj" fmla="val 33834"/>
            </a:avLst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227867" y="3429000"/>
            <a:ext cx="4389120" cy="1214654"/>
          </a:xfrm>
          <a:prstGeom prst="roundRect">
            <a:avLst>
              <a:gd name="adj" fmla="val 33521"/>
            </a:avLst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227867" y="5038973"/>
            <a:ext cx="4389120" cy="1214654"/>
          </a:xfrm>
          <a:prstGeom prst="roundRect">
            <a:avLst>
              <a:gd name="adj" fmla="val 36892"/>
            </a:avLst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endParaRPr dirty="0"/>
          </a:p>
        </p:txBody>
      </p:sp>
      <p:pic>
        <p:nvPicPr>
          <p:cNvPr id="9" name="Image 0" descr="/home/claude/ss1_lit_review.png">
            <a:extLst>
              <a:ext uri="{FF2B5EF4-FFF2-40B4-BE49-F238E27FC236}">
                <a16:creationId xmlns:a16="http://schemas.microsoft.com/office/drawing/2014/main" id="{3EA9AF40-8D8E-8014-D1D8-24AA1E57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9" y="1828799"/>
            <a:ext cx="6848751" cy="4758517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81A7E861-2D10-C339-4249-926DCB26F16D}"/>
              </a:ext>
            </a:extLst>
          </p:cNvPr>
          <p:cNvSpPr/>
          <p:nvPr/>
        </p:nvSpPr>
        <p:spPr>
          <a:xfrm>
            <a:off x="7414858" y="2372357"/>
            <a:ext cx="40213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8 of 10 papers flagged 'black box' as a gap. None implemented SHAP. We do.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D2F94-CDA5-B33C-FABE-1E6AF529C2C2}"/>
              </a:ext>
            </a:extLst>
          </p:cNvPr>
          <p:cNvSpPr txBox="1"/>
          <p:nvPr/>
        </p:nvSpPr>
        <p:spPr>
          <a:xfrm>
            <a:off x="7414858" y="1957000"/>
            <a:ext cx="249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No Explainable AI (XAI)</a:t>
            </a:r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A54173-6A6E-0EBA-AFB1-9B6BBAC86F0D}"/>
              </a:ext>
            </a:extLst>
          </p:cNvPr>
          <p:cNvSpPr txBox="1"/>
          <p:nvPr/>
        </p:nvSpPr>
        <p:spPr>
          <a:xfrm>
            <a:off x="7414858" y="3556188"/>
            <a:ext cx="2825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No Domain Thresholds</a:t>
            </a:r>
          </a:p>
          <a:p>
            <a:endParaRPr lang="en-IN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AB58C791-E354-2AC9-2B7C-00A918941C6A}"/>
              </a:ext>
            </a:extLst>
          </p:cNvPr>
          <p:cNvSpPr/>
          <p:nvPr/>
        </p:nvSpPr>
        <p:spPr>
          <a:xfrm>
            <a:off x="7414858" y="3951507"/>
            <a:ext cx="40213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Most tested on fixed splits. We built a live real-time detection system.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B1D47-577E-9157-89C7-F33FDC78D40C}"/>
              </a:ext>
            </a:extLst>
          </p:cNvPr>
          <p:cNvSpPr txBox="1"/>
          <p:nvPr/>
        </p:nvSpPr>
        <p:spPr>
          <a:xfrm>
            <a:off x="7414858" y="5166161"/>
            <a:ext cx="2603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No Real-time Dashboard</a:t>
            </a:r>
          </a:p>
          <a:p>
            <a:endParaRPr lang="en-IN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10F6C466-76BB-E508-ED57-A4EBCD073112}"/>
              </a:ext>
            </a:extLst>
          </p:cNvPr>
          <p:cNvSpPr/>
          <p:nvPr/>
        </p:nvSpPr>
        <p:spPr>
          <a:xfrm>
            <a:off x="7411774" y="5515312"/>
            <a:ext cx="40213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Most tested on fixed splits. We built a live real-time detection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rPr sz="1600" dirty="0"/>
              <a:t>SLIDE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rPr dirty="0"/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DUAL-ENGINE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Engine 1: Behavioral Fraud Engine (6 features)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  - Amount, </a:t>
            </a:r>
            <a:r>
              <a:rPr dirty="0" err="1"/>
              <a:t>Time_Delta</a:t>
            </a:r>
            <a:r>
              <a:rPr dirty="0"/>
              <a:t>, </a:t>
            </a:r>
            <a:r>
              <a:rPr dirty="0" err="1"/>
              <a:t>Distance_From_Home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  - </a:t>
            </a:r>
            <a:r>
              <a:rPr dirty="0" err="1"/>
              <a:t>Is_High_Risk_Merchant</a:t>
            </a:r>
            <a:r>
              <a:rPr dirty="0"/>
              <a:t>, Avg_Spent_7D, </a:t>
            </a:r>
            <a:r>
              <a:rPr dirty="0" err="1"/>
              <a:t>Velocity_Ratio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  - Domain-informed thresholds from published research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Engine 2: Kaggle PCA Engine (30 features)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  - V1-V28 + Amount + Time (anonymized real bank data)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  - Trained on 284,807 real transactions (492 fraud)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Both use: Stacking Ensemble (RF + </a:t>
            </a:r>
            <a:r>
              <a:rPr dirty="0" err="1"/>
              <a:t>XGBoost</a:t>
            </a:r>
            <a:r>
              <a:rPr dirty="0"/>
              <a:t> -&gt; </a:t>
            </a:r>
            <a:r>
              <a:rPr dirty="0" err="1"/>
              <a:t>LogReg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rPr dirty="0"/>
              <a:t>Explainability: SHAP </a:t>
            </a:r>
            <a:r>
              <a:rPr dirty="0" err="1"/>
              <a:t>KernelExplainer</a:t>
            </a:r>
            <a:r>
              <a:rPr dirty="0"/>
              <a:t> on both engines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BEHAVIORAL ENGINE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6 Domain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20040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KAGGLE ENGINE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30 PCA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57200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META-LEARNER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Logistic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rPr sz="2000" dirty="0"/>
              <a:t>SLIDE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End-to-End Workflow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210BC7-B0B5-DEE1-31F7-ACFD546DB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45919"/>
            <a:ext cx="12188825" cy="52882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rPr sz="1600" dirty="0"/>
              <a:t>SLIDE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Model Performance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88.76%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80.61%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1168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F1-SCORE</a:t>
            </a:r>
          </a:p>
          <a:p>
            <a:pPr algn="ctr">
              <a:defRPr sz="2000" b="1">
                <a:solidFill>
                  <a:srgbClr val="E8E6E3"/>
                </a:solidFill>
                <a:latin typeface="Calibri"/>
              </a:defRPr>
            </a:pPr>
            <a:r>
              <a:t>84.47%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AUC-ROC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97.81%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CONFUSION MATRIX BREAKDOWN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25603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rPr dirty="0"/>
              <a:t>TRUE NEGATIVES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rPr dirty="0"/>
              <a:t>976 (correct legit)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480560"/>
            <a:ext cx="25603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FALSE POSITIVES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11 (false alarms)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480560"/>
            <a:ext cx="25603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FALSE NEGATIVES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19 (missed fraud)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4480560"/>
            <a:ext cx="25603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TRUE POSITIVES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79 (caught fraud)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98A"/>
                </a:solidFill>
                <a:latin typeface="Calibri"/>
              </a:defRPr>
            </a:pPr>
            <a:r>
              <a:t>Note: Accuracy (96.8%) is intentionally NOT highlighted - it is misleading due to class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Domain-Informed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Amount (USD)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Safe: &lt;$500 | Moderate: $500-$2K | High: &gt;$2K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Time_Delta (sec)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78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Safe: &lt;110s | Moderate: 110-160s | High: &gt;160s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284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Distance_From_Home (km)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28415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Safe: &lt;50km | Moderate: 50-150km | High: &gt;150km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782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Is_High_Risk_Merchant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782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Binary: crypto/forex/gambling = always High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280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Avg_Spent_7D (USD)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828031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Cardholder's 7-day average daily spend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Velocity_Ratio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577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Amount / Avg_Spent_7D | Safe: &lt;2x | Mod: 2-5x | High: &gt;5x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98A"/>
                </a:solidFill>
                <a:latin typeface="Calibri"/>
              </a:defRPr>
            </a:pPr>
            <a:r>
              <a:t>Thresholds derived from: Dornadula 2019, Alarfaj 2022, real-world banking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07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Explainable AI with SHAP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SHAP (SHapley Additive exPlanations):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- Based on game theory: fair credit assignment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- Each feature gets a contribution score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RED BAR = pushes model toward FRAUD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BLUE BAR = pushes model toward LEGITIMATE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Bar length = strength of influence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Key insight: One red bar does NOT make fraud.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The model weighs ALL features together.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Final probability is the combined verdict.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This solves the 'black box' problem in ML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- Banks can explain WHY a transaction was flagged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- Regulatory compliance (GDPR right to explanation)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3891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RED BAR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Increases fraud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474720"/>
            <a:ext cx="43891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BLUE BAR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Decreases fraud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512064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CONFIDENCE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Combined probability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08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Feature Deep Dive: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SAFE SCENARIO: Amount = $300 (below $500 threshold)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SHAP bar is BLUE (pushing toward legitimate)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Overall probability: ~15% (Legitimate)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MODERATE SCENARIO: Amount = $1,000 (between $500-$2,000)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SHAP bar is slightly RED (mild fraud signal)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But other safe features keep probability low: ~25%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HIGH RISK SCENARIO: Amount = $3,000 (above $2,000 threshold)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SHAP bar is strongly RED (major fraud signal)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Combined with other features: probability jumps to ~65%+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KEY TAKEAWAY: Amount alone doesn't determine fraud.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The velocity ratio (Amount / Avg_Spent_7D) is often more predictive.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Feature Deep Dive: Time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Average legitimate transaction takes ~85 seconds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SAFE: &lt; 110 seconds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Normal transaction speed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MODERATE: 110 - 160 seconds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Unusual hesitation, could be unfamiliarity or coaching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SHAP shows mild red contribution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HIGH RISK: &gt; 160 seconds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Strong indicator of stolen card being tested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Fraudster may be being coached over phone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SHAP shows strong red contribution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WHY 110s AND NOT 150s?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If avg is 85s, anything &gt;110s is already 30% slower than normal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Live Dashboard: 7 Interactive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1.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Live KPI metrics from model output, fraud probability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2. Real-time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871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Upload CSV or manual entry, instant model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45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3. SHAP 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4553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Global feature importance, per-transaction explanations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03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4. Scaling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80390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Performance benchmarking: 30K to 284K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5. Fraud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622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Filter by risk level, feature thresholds, drill into any 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6. Comparative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120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Side-by-side comparison with published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79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7.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7790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Model retraining, threshold reference, Kaggle model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Dataset Scaling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BENCHMARKING: How does our model perform as data grows?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30,000 transactions  -&gt; Processed in ~0.8s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50,000 transactions  -&gt; Processed in ~1.2s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150,000 transactions -&gt; Processed in ~3.5s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284,807 transactions -&gt; Processed in ~6.8s (full Kaggle dataset)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LINEAR SCALING: Processing time grows proportionally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No exponential blowup, production-ready performance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FRAUD DETECTION RATE: Consistent ~0.17% across all sizes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Model doesn't degrade with more data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  -&gt; High Risk count scales proportionally</a:t>
            </a:r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8E6E3"/>
                </a:solidFill>
                <a:latin typeface="Calibri"/>
              </a:defRPr>
            </a:pPr>
            <a:r>
              <a:t>PRODUCTION IMPLICATION: Can handle millions with simple parallelization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Challenges We Overcame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Only 0.17% fraud in real data. Used SMOTE-aware class weights in XGBoost and balanced RF.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PCA Feature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Kaggle's anonymized V1-V28 can't map to behavioral features. Built a dedicated Kaggle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Threshold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Initial Time_Delta threshold of 150s was too lenient. Research showed avg is 85s, so set to 110s.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SHAP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KernelExplainer is slow on large datasets. Used background sampling (50 samples) for speed.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Dashboard Reactivity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486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SHAP charts weren't updating on filter change. Implemented session state cache invalidation.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Future Scope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Federated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659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Train across multiple banks without sharing raw data. Privacy-preserving fraud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Real-time API (FastAPI)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803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Deploy as microservice with &lt;100ms inference latency for production bank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Concept Drift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7947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Monitor feature distributions over time. Auto-retrain when fraud patterns evolve.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Graph Neural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7091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Model transaction networks to detect organized fraud rings and money laundering.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Alert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6235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Email/SMS notifications when High Risk transactions are detected. Mock bank notification UI.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00400" cy="640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Stacking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468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RF + XGBoost + LogReg meta-learner with 97.81% AUC-ROC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200400" cy="640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Explainable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SHAP values for every feature, every transaction - regulatory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200400" cy="640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Domain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1148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Research-backed risk classification, not arbitrary cutoffs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3200400" cy="640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Dual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9377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Behavioral + Kaggle PCA models auto-switching on data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3200400" cy="640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endParaRPr/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760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Linear scaling, &lt;7s for 284K transactions, interactive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98A"/>
                </a:solidFill>
                <a:latin typeface="Calibri"/>
              </a:defRPr>
            </a:pPr>
            <a:r>
              <a:t>SecureGuard AI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1334</Words>
  <Application>Microsoft Office PowerPoint</Application>
  <PresentationFormat>Custom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Dahiya</cp:lastModifiedBy>
  <cp:revision>2</cp:revision>
  <dcterms:created xsi:type="dcterms:W3CDTF">2013-01-27T09:14:16Z</dcterms:created>
  <dcterms:modified xsi:type="dcterms:W3CDTF">2026-05-07T15:43:46Z</dcterms:modified>
  <cp:category/>
</cp:coreProperties>
</file>