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D4AF37"/>
                </a:solidFill>
                <a:latin typeface="Calibri"/>
              </a:defRPr>
            </a:pPr>
            <a:r>
              <a:t>SECUREGUARD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6E3"/>
                </a:solidFill>
                <a:latin typeface="Calibri"/>
              </a:defRPr>
            </a:pPr>
            <a:r>
              <a:t>State-of-the-Art Fraud Detection with Explainable XAI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Industry-Expert Dashboard | Real-time Monitoring | Behavioral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4747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931920"/>
            <a:ext cx="2926080" cy="11887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PRECISION</a:t>
            </a:r>
          </a:p>
          <a:p>
            <a:pPr algn="ctr">
              <a:defRPr sz="2000" b="1">
                <a:solidFill>
                  <a:srgbClr val="E63946"/>
                </a:solidFill>
                <a:latin typeface="Calibri"/>
              </a:defRPr>
            </a:pPr>
            <a:r>
              <a:t>88.76%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931920"/>
            <a:ext cx="2926080" cy="11887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RECALL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80.61%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931920"/>
            <a:ext cx="2926080" cy="11887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AUC-ROC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97.81%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Academic Presentation | Mayank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The Global Fraud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Why traditional systems fail in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$32 Billion+ lost annually to credit card fraud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Sophisticated 'Social Engineering' &amp; 'Coaching' attacks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High velocity 'Flash Fraud' bypassing simple limits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The 0.172% Needle: Extreme class imbalance problem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Legacy systems produce too many 'False Alarms'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The 'Black Box' Problem: Why was it flagged?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Regulatory Pressure: GDPR &amp; 'Right to Explanation'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011680"/>
            <a:ext cx="43891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EXTREME RATIO</a:t>
            </a:r>
          </a:p>
          <a:p>
            <a:pPr algn="ctr">
              <a:defRPr sz="2000" b="1">
                <a:solidFill>
                  <a:srgbClr val="E63946"/>
                </a:solidFill>
                <a:latin typeface="Calibri"/>
              </a:defRPr>
            </a:pPr>
            <a:r>
              <a:t>1 in 580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383280"/>
            <a:ext cx="43891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REVENUE LOSS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Direct &amp; Operational costs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754880"/>
            <a:ext cx="438912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TRUST DEFICIT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Customer friction vs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Literature Review &amp; 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Bridging the academic-industry divide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Dornadula &amp; Geetha (2019): ML on imbalanced data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Alarfaj (2022): Domain-specific feature engineering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Siam (2025): Performance of Stacking Ensembles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Awoyemi (2017): Comparative study of RF vs KNN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IDENTIFIED GAPS: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- Lack of Explainable AI (XAI) in real-time scoring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- Static datasets vs dynamic behavioral modeling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- No research on 'Coaching Time' thresholds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- Disconnect between model output &amp; UI visibility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2011680"/>
            <a:ext cx="4114800" cy="9144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GAP 1</a:t>
            </a:r>
          </a:p>
          <a:p>
            <a:pPr algn="ctr">
              <a:defRPr sz="2000" b="1">
                <a:solidFill>
                  <a:srgbClr val="E63946"/>
                </a:solidFill>
                <a:latin typeface="Calibri"/>
              </a:defRPr>
            </a:pPr>
            <a:r>
              <a:t>XAI Explainability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108960"/>
            <a:ext cx="4114800" cy="9144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GAP 2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Behavioral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4206240"/>
            <a:ext cx="4114800" cy="9144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GAP 3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Interactive Viz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The Solution: SecureGuard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A Multi-Engine SOTA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1. DUAL-ENGINE ARCHITECTURE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- Behavioral Engine: Domain-informed features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- PCA Engine: For high-dimensional bank data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2. STACKING ENSEMBLE MODEL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- Base: Random Forest (Spatial patterns)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- Base: XGBoost (Gradient boosting trees)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- Meta: Logistic Regression (Optimal blending)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3. EXPLAINABILITY FIRST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- SHAP KernelExplainer integrated natively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- Human-readable narratives for investigators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2286000"/>
            <a:ext cx="411480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HYBRID MODEL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Domain + PCA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114800"/>
            <a:ext cx="411480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XAI NATIVE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SHAP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Scalable, modular, and explainable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E8E6E3"/>
                </a:solidFill>
                <a:latin typeface="Calibri"/>
              </a:defRPr>
            </a:pPr>
            <a:r>
              <a:t>FRONTEND: Streamlit (Luxury Black &amp; Gold UI, Plotly Viz)</a:t>
            </a:r>
          </a:p>
          <a:p>
            <a:pPr>
              <a:spcAft>
                <a:spcPts val="400"/>
              </a:spcAft>
              <a:defRPr sz="1500">
                <a:solidFill>
                  <a:srgbClr val="E8E6E3"/>
                </a:solidFill>
                <a:latin typeface="Calibri"/>
              </a:defRPr>
            </a:pPr>
            <a:r>
              <a:t>BACKEND: Python 3.12 Engine (Scikit-Learn, XGBoost)</a:t>
            </a:r>
          </a:p>
          <a:p>
            <a:pPr>
              <a:spcAft>
                <a:spcPts val="400"/>
              </a:spcAft>
              <a:defRPr sz="1500">
                <a:solidFill>
                  <a:srgbClr val="E8E6E3"/>
                </a:solidFill>
                <a:latin typeface="Calibri"/>
              </a:defRPr>
            </a:pPr>
            <a:r>
              <a:t>EXPLAINER: SHAP KernelExplainer (Local Explanations)</a:t>
            </a:r>
          </a:p>
          <a:p>
            <a:pPr>
              <a:spcAft>
                <a:spcPts val="400"/>
              </a:spcAft>
              <a:defRPr sz="1500">
                <a:solidFill>
                  <a:srgbClr val="E8E6E3"/>
                </a:solidFill>
                <a:latin typeface="Calibri"/>
              </a:defRPr>
            </a:pPr>
            <a:r>
              <a:t>PIPELINE: Auto-format detection (Kaggle vs Behavioral)</a:t>
            </a:r>
          </a:p>
          <a:p>
            <a:pPr>
              <a:spcAft>
                <a:spcPts val="400"/>
              </a:spcAft>
              <a:defRPr sz="1500">
                <a:solidFill>
                  <a:srgbClr val="E8E6E3"/>
                </a:solidFill>
                <a:latin typeface="Calibri"/>
              </a:defRPr>
            </a:pPr>
            <a:r>
              <a:t>SECURITY: Domain-informed hard-threshold filters</a:t>
            </a:r>
          </a:p>
          <a:p>
            <a:pPr>
              <a:spcAft>
                <a:spcPts val="400"/>
              </a:spcAft>
              <a:defRPr sz="1500">
                <a:solidFill>
                  <a:srgbClr val="E8E6E3"/>
                </a:solidFill>
                <a:latin typeface="Calibri"/>
              </a:defRPr>
            </a:pPr>
            <a:r>
              <a:t>PERSISTENCE: Joblib/Pickle Model Serialization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Data: Beyond Raw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Synthetic Behavioral &amp; Real Bank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KAGGLE DATASET: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- 284,807 Transactions | 492 Frauds (0.17%)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- 30 PCA-transformed features (V1-V28)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BEHAVIORAL DATASET (Engineered):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Engineered features to mimic real human patterns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Amount, Time_Delta, Velocity, Merchant Risk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Modeled on common fraud typologies: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* Account Takeover (ATO)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* Online Fraud Spikes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* Skimming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2286000"/>
            <a:ext cx="411480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SCALE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284K+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114800"/>
            <a:ext cx="411480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RATIO</a:t>
            </a:r>
          </a:p>
          <a:p>
            <a:pPr algn="ctr">
              <a:defRPr sz="2000" b="1">
                <a:solidFill>
                  <a:srgbClr val="E63946"/>
                </a:solidFill>
                <a:latin typeface="Calibri"/>
              </a:defRPr>
            </a:pPr>
            <a:r>
              <a:t>1:580 Imbalance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Domain-Informed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Teaching the model to 'think' like an expert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Velocity_Ratio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Amount / 7-Day Average spend. Flagging sudden spending spikes.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Time_Delta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Seconds taken to transact. Identifying 'coaching' or automation.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Merchant_Risk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Flagging high-risk MCCs (Crypto, Forex, Gambling).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Distance_Gap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029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Transaction distance from cardholder home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The 'Coaching' Window (Time_Delta)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Detecting social engineering in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Average Genuine Transaction: ~85 seconds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SAFE ZONE (&lt; 110s): Normal, fluid customer interaction.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CAUTION ZONE (110s - 160s): Hesitation, multiple tries, or confusion.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HIGH RISK ZONE (&gt; 160s): Likely 'Coaching'. Fraudster guiding victim over phone.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This domain rule provides a critical 'Heuristic layer' before ML scoring.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It allows the system to remain robust even against 'zero-day' fraud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Model Performance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Optimized for the real-world fraud ratio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6032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PRECISION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88.76%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286000"/>
            <a:ext cx="256032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RECALL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80.61%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286000"/>
            <a:ext cx="256032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F1-SCORE</a:t>
            </a:r>
          </a:p>
          <a:p>
            <a:pPr algn="ctr">
              <a:defRPr sz="2000" b="1">
                <a:solidFill>
                  <a:srgbClr val="E8E6E3"/>
                </a:solidFill>
                <a:latin typeface="Calibri"/>
              </a:defRPr>
            </a:pPr>
            <a:r>
              <a:t>84.47%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286000"/>
            <a:ext cx="256032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AUC-ROC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97.81%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CONFUSION MATRIX: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True Positives: 79 (Frauds correctly stopped)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False Positives: 11 (Minimal customer friction)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Recall (80.6%): 4 out of 5 frauds detected in 'alien' datasets.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Explainable AI (SHAP)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Demystifying the Black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Game Theory implementation for local explainability.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RED: Pushes the model TOWARD a fraud verdict.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BLUE: Pushes the model TOWARD legitimate.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CRITICAL FOR: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Customer Service: 'Why was my card blocked?'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Regulators: Auditing model bias &amp; logic.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Data Scientists: Debugging 'Alien' data inputs.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2286000"/>
            <a:ext cx="411480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FAIR CREDIT</a:t>
            </a: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Game Theory based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114800"/>
            <a:ext cx="4114800" cy="10972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  <a:r>
              <a:t>TRUST</a:t>
            </a:r>
          </a:p>
          <a:p>
            <a:pPr algn="ctr">
              <a:defRPr sz="2000" b="1">
                <a:solidFill>
                  <a:srgbClr val="2EC4B6"/>
                </a:solidFill>
                <a:latin typeface="Calibri"/>
              </a:defRPr>
            </a:pPr>
            <a:r>
              <a:t>Transparency by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SHAP in Action: Amount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Case study on feature influence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Scenario A ($300): SHAP bar is BLUE. Model is confident it's safe.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Scenario B ($1000): SHAP bar is mild RED. Adds suspicion but not enough to block.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Scenario C ($3000): SHAP bar is deep RED. Major contributor to blocking.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Key takeaway: The system doesn't block on Amount alone.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If Distance is 0km and Merchant is 'Amazon', the SHAP Blue from those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features will override the Red from the high amount.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Dataset Scaling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Benchmarking for the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30K Records: 0.8s processing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150K Records: 3.5s processing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284K Records: 6.8s (Full Kaggle load)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Performance is O(n) - Linear scaling.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Ideal for batch processing of nightly settlement files.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Sub-100ms inference for individual manual entry (Real-time).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Interactive UI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Expert-grade UX in Black &amp; Gold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1. Overview Tab: Executive summary of risk.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2. Real-time Tab: Upload &amp; Score instantly.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3. XAI Tab: Global vs Local importance.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4. Explorer Tab: Drill-down to individual transactions.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5. Comparative Tab: Research validation.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6. Settings Tab: Custom model retraining.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Fraud Transaction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Empowering the Fraud Investigator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Investigators don't want 'Fraud/Not Fraud'.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They want 'Evidence'.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Our Explorer provides: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Multi-dimensional filtering (Risk, Probability, Feature-Risk).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Top 10 High-Confidence targets for manual review.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One-click 'SHAP Explanation' for any row.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Plain-English narrative summarizing the model's logic.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Premium UX: The Landing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Creating 'GOATed' first impressions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AESTHETIC FIRST: Inspired by high-end luxury tech platforms.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CINEMATIC HERO: 3D-rendered Golden Shield background.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IMMERSEIVE INTRO: A clear 'Gate' to the intelligence dashboard.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VISUAL HIERARCHY: Bold gold typography and minimalist layout.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Why it matters in Banking: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- High-stakes software should feel solid, premium, and secure.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- Reduces 'Dashboard Fatigue' for investigators.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- Instills confidence in stakeholders and regulators.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Anomaly vs Fraud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Why simple anomalies are not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ANOMALY DETECTION (Unsupervised):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Finds what is 'Different' (e.g. traveling abroad).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Result: High False Positives (Friction).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FRAUD DETECTION (Supervised/Domain-Informed):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Finds what is 'Malicious' (e.g. Skimming patterns).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- SecureGuard uses domain rules to distinguish between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   'Unusual but Legit' and 'Suspiciously Malicious'.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Ethical AI &amp; Bias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Building responsible fraud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Transparency: SHAP removes 'Hidden Bias'.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Domain-Rules: Ensure the model doesn't over-rely on a single feature.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Class Balancing: Prevents model from being biased toward 'Legitimate'.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Human-in-the-loop: Dashboard designed for investigator verification,</a:t>
            </a:r>
          </a:p>
          <a:p>
            <a:pPr>
              <a:spcAft>
                <a:spcPts val="400"/>
              </a:spcAft>
              <a:defRPr sz="1300">
                <a:solidFill>
                  <a:srgbClr val="E8E6E3"/>
                </a:solidFill>
                <a:latin typeface="Calibri"/>
              </a:defRPr>
            </a:pPr>
            <a:r>
              <a:t>not autonomous final decisions (High-risk automation mitigation).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The Implementation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Cutting-edge Python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CORE: Python 3.12 (Native speed &amp; typing)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ML: Scikit-Learn (Ensemble), XGBoost (Gradient Boosting)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EXPLAINABILITY: SHAP (Local feature contribution)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UX: Streamlit (Luxury Dark Theme, Custom CSS)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VIZ: Plotly Graph Objects (Interactive, Responsive)</a:t>
            </a:r>
          </a:p>
          <a:p>
            <a:pPr>
              <a:spcAft>
                <a:spcPts val="400"/>
              </a:spcAft>
              <a:defRPr sz="1400">
                <a:solidFill>
                  <a:srgbClr val="E8E6E3"/>
                </a:solidFill>
                <a:latin typeface="Calibri"/>
              </a:defRPr>
            </a:pPr>
            <a:r>
              <a:t>OPS: Joblib Serialization (Instant model loading)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Challenges Overcome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Real-world hurdles &amp; technical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Used scale_pos_weight in XGBoost to handle 0.17% ratio.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Format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Heuristic CSV analyzer to auto-switch PCA vs Behavioral engine.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XAI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Optimized SHAP background sampling for real-time responsiveness.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UX 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029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Implemented session-state caching for persistent analysis.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6E3"/>
                </a:solidFill>
                <a:latin typeface="Calibri"/>
              </a:defRPr>
            </a:pPr>
            <a:r>
              <a:t>Future Roadmap: SecureGuard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98A"/>
                </a:solidFill>
                <a:latin typeface="Calibri"/>
              </a:defRPr>
            </a:pPr>
            <a:r>
              <a:t>The path to production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Federated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4231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Cross-bank training without data sharing.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FastAPI Microservice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3375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Enterprise-scale inference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Graph Neural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2519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Modeling transaction relationships.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Real-time SMS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1663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6E3"/>
                </a:solidFill>
                <a:latin typeface="Calibri"/>
              </a:defRPr>
            </a:pPr>
            <a:r>
              <a:t>Direct customer verification loop.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88952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State-of-the-Art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697479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6E3"/>
                </a:solidFill>
                <a:latin typeface="Calibri"/>
              </a:defRPr>
            </a:pPr>
            <a:r>
              <a:t>97.81% AUC-ROC on real bank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Radical Transparency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611879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6E3"/>
                </a:solidFill>
                <a:latin typeface="Calibri"/>
              </a:defRPr>
            </a:pPr>
            <a:r>
              <a:t>Explainable AI (SHAP) built into the 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Domain Expertise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52628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6E3"/>
                </a:solidFill>
                <a:latin typeface="Calibri"/>
              </a:defRPr>
            </a:pPr>
            <a:r>
              <a:t>Features that model real-world fraud psychology.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3200400" cy="731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A0998A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Premium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44068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6E3"/>
                </a:solidFill>
                <a:latin typeface="Calibri"/>
              </a:defRPr>
            </a:pPr>
            <a:r>
              <a:t>Industry-expert dashboard for high-stakes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998A"/>
                </a:solidFill>
                <a:latin typeface="Calibri"/>
              </a:defRPr>
            </a:pPr>
            <a:r>
              <a:t>SecureGuard AI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